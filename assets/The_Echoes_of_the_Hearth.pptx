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37" d="100"/>
          <a:sy n="37" d="100"/>
        </p:scale>
        <p:origin x="52" y="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95550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389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9174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61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583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12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156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670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569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711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0988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1771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TREVOR KIMATHI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C025-01-1200/2019</a:t>
            </a:r>
          </a:p>
          <a:p>
            <a:r>
              <a:rPr lang="en-US" dirty="0" smtClean="0"/>
              <a:t>BSs. Information Technology.</a:t>
            </a:r>
          </a:p>
        </p:txBody>
      </p:sp>
    </p:spTree>
    <p:extLst>
      <p:ext uri="{BB962C8B-B14F-4D97-AF65-F5344CB8AC3E}">
        <p14:creationId xmlns:p14="http://schemas.microsoft.com/office/powerpoint/2010/main" val="2491546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Echoes of the Hearth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4400" dirty="0"/>
              <a:t>Kikuyu Storytelling, Ethics, Gender, and Digital Preservation</a:t>
            </a:r>
          </a:p>
          <a:p>
            <a:pPr lvl="1"/>
            <a:r>
              <a:rPr sz="3600" dirty="0" err="1"/>
              <a:t>Ng’ano</a:t>
            </a:r>
            <a:r>
              <a:rPr sz="3600" dirty="0"/>
              <a:t> and </a:t>
            </a:r>
            <a:r>
              <a:rPr sz="3600" dirty="0" err="1"/>
              <a:t>Thimo</a:t>
            </a:r>
            <a:r>
              <a:rPr sz="3600" dirty="0"/>
              <a:t> as living cultural systems</a:t>
            </a:r>
          </a:p>
          <a:p>
            <a:pPr lvl="1"/>
            <a:r>
              <a:rPr sz="3600" dirty="0"/>
              <a:t>Presented for academic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Opening Proverb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4400" dirty="0"/>
              <a:t>“</a:t>
            </a:r>
            <a:r>
              <a:rPr sz="4400" dirty="0" err="1"/>
              <a:t>Mũcũngwa</a:t>
            </a:r>
            <a:r>
              <a:rPr sz="4400" dirty="0"/>
              <a:t> </a:t>
            </a:r>
            <a:r>
              <a:rPr sz="4400" dirty="0" err="1"/>
              <a:t>mũthaka</a:t>
            </a:r>
            <a:r>
              <a:rPr sz="4400" dirty="0"/>
              <a:t> </a:t>
            </a:r>
            <a:r>
              <a:rPr sz="4400" dirty="0" err="1"/>
              <a:t>ndũrĩ</a:t>
            </a:r>
            <a:r>
              <a:rPr sz="4400" dirty="0"/>
              <a:t> </a:t>
            </a:r>
            <a:r>
              <a:rPr sz="4400" dirty="0" err="1"/>
              <a:t>mũka</a:t>
            </a:r>
            <a:r>
              <a:rPr sz="4400" dirty="0"/>
              <a:t>”</a:t>
            </a:r>
          </a:p>
          <a:p>
            <a:pPr lvl="1"/>
            <a:r>
              <a:rPr sz="3600" dirty="0"/>
              <a:t>No individual is complete alone</a:t>
            </a:r>
          </a:p>
          <a:p>
            <a:pPr lvl="1"/>
            <a:r>
              <a:rPr sz="3600" dirty="0"/>
              <a:t>Community and humility as core philosophy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Riiko – Sacred Hearth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4800" dirty="0"/>
              <a:t>Cultural and moral center of the Kikuyu home</a:t>
            </a:r>
          </a:p>
          <a:p>
            <a:pPr lvl="1"/>
            <a:r>
              <a:rPr sz="4000" dirty="0"/>
              <a:t>Space for storytelling, discipline, and memory</a:t>
            </a:r>
          </a:p>
          <a:p>
            <a:pPr lvl="1"/>
            <a:r>
              <a:rPr sz="4000" dirty="0"/>
              <a:t>Linked the family to clan identity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Thesis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4400" dirty="0" err="1"/>
              <a:t>Ng’ano</a:t>
            </a:r>
            <a:r>
              <a:rPr sz="4400" dirty="0"/>
              <a:t> and </a:t>
            </a:r>
            <a:r>
              <a:rPr sz="4400" dirty="0" err="1"/>
              <a:t>Thimo</a:t>
            </a:r>
            <a:r>
              <a:rPr sz="4400" dirty="0"/>
              <a:t> are dynamic ethical systems</a:t>
            </a:r>
          </a:p>
          <a:p>
            <a:pPr lvl="1"/>
            <a:r>
              <a:rPr sz="3600" dirty="0"/>
              <a:t>They shape leadership, morality, and identity</a:t>
            </a:r>
          </a:p>
          <a:p>
            <a:pPr lvl="1"/>
            <a:r>
              <a:rPr sz="3600" dirty="0"/>
              <a:t>Critical engagement is necessary for relevance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Presentation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4400" dirty="0"/>
              <a:t>Cultural foundations of </a:t>
            </a:r>
            <a:r>
              <a:rPr sz="4400" dirty="0" err="1"/>
              <a:t>Ng’ano</a:t>
            </a:r>
            <a:r>
              <a:rPr sz="4400" dirty="0"/>
              <a:t> and </a:t>
            </a:r>
            <a:r>
              <a:rPr sz="4400" dirty="0" err="1"/>
              <a:t>Thimo</a:t>
            </a:r>
            <a:endParaRPr sz="4400" dirty="0"/>
          </a:p>
          <a:p>
            <a:pPr lvl="1"/>
            <a:r>
              <a:rPr sz="3600" dirty="0"/>
              <a:t>Importance in modern society</a:t>
            </a:r>
          </a:p>
          <a:p>
            <a:pPr lvl="1"/>
            <a:r>
              <a:rPr sz="3600" dirty="0"/>
              <a:t>Gender-critical reinterpretation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689991"/>
            <a:ext cx="7290054" cy="1499616"/>
          </a:xfrm>
        </p:spPr>
        <p:txBody>
          <a:bodyPr/>
          <a:lstStyle/>
          <a:p>
            <a:r>
              <a:t>Ng’ano – Stories as Education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4000" dirty="0"/>
              <a:t>Narrated by grandmothers (</a:t>
            </a:r>
            <a:r>
              <a:rPr sz="4000" dirty="0" err="1"/>
              <a:t>cũcũ</a:t>
            </a:r>
            <a:r>
              <a:rPr sz="4000" dirty="0"/>
              <a:t>)</a:t>
            </a:r>
          </a:p>
          <a:p>
            <a:pPr lvl="1"/>
            <a:r>
              <a:rPr sz="3200" dirty="0"/>
              <a:t>Evening storytelling after communal meals</a:t>
            </a:r>
          </a:p>
          <a:p>
            <a:pPr lvl="1"/>
            <a:r>
              <a:rPr sz="3200" dirty="0"/>
              <a:t>Moral training and preparation for adulthood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Kariũki the Trickster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4400" dirty="0"/>
              <a:t>Survives through intelligence, not strength</a:t>
            </a:r>
          </a:p>
          <a:p>
            <a:pPr lvl="1"/>
            <a:r>
              <a:rPr sz="3600" dirty="0"/>
              <a:t>Represents marginalized resilience</a:t>
            </a:r>
          </a:p>
          <a:p>
            <a:pPr lvl="1"/>
            <a:r>
              <a:rPr sz="3600" dirty="0"/>
              <a:t>Teaches adaptive and situational ethics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Thimo – Proverbs as Law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4800" dirty="0"/>
              <a:t>Used by the </a:t>
            </a:r>
            <a:r>
              <a:rPr sz="4800" dirty="0" err="1"/>
              <a:t>Kiama</a:t>
            </a:r>
            <a:r>
              <a:rPr sz="4800" dirty="0"/>
              <a:t> council</a:t>
            </a:r>
          </a:p>
          <a:p>
            <a:pPr lvl="1"/>
            <a:r>
              <a:rPr sz="4000" dirty="0"/>
              <a:t>Resolve disputes and enforce norms</a:t>
            </a:r>
          </a:p>
          <a:p>
            <a:pPr lvl="1"/>
            <a:r>
              <a:rPr sz="4000" dirty="0"/>
              <a:t>Truth overrides rank and authority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Collective Philosophy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4800" dirty="0"/>
              <a:t>Problems are communal, not individual</a:t>
            </a:r>
          </a:p>
          <a:p>
            <a:pPr lvl="1"/>
            <a:r>
              <a:rPr sz="4000" dirty="0"/>
              <a:t>Encourages cooperation and responsibility</a:t>
            </a:r>
          </a:p>
          <a:p>
            <a:pPr lvl="1"/>
            <a:r>
              <a:rPr sz="4000" dirty="0"/>
              <a:t>Rejects extreme individualism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Language and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4400" dirty="0"/>
              <a:t>Meaning embedded in rhythm and sound</a:t>
            </a:r>
          </a:p>
          <a:p>
            <a:pPr lvl="1"/>
            <a:r>
              <a:rPr sz="3600" dirty="0"/>
              <a:t>Translation weakens cultural logic</a:t>
            </a:r>
          </a:p>
          <a:p>
            <a:pPr lvl="1"/>
            <a:r>
              <a:rPr sz="3600" dirty="0"/>
              <a:t>Loss of language equals loss of worldview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Modern Relevance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4800" dirty="0"/>
              <a:t>Counters corruption and greed</a:t>
            </a:r>
          </a:p>
          <a:p>
            <a:pPr lvl="1"/>
            <a:r>
              <a:rPr sz="4000" dirty="0"/>
              <a:t>Promotes ethical leadership</a:t>
            </a:r>
          </a:p>
          <a:p>
            <a:pPr lvl="1"/>
            <a:r>
              <a:rPr sz="4000" dirty="0"/>
              <a:t>Supports sustainable land values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Psychological Anchoring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4800" dirty="0"/>
              <a:t>Provides social memory</a:t>
            </a:r>
          </a:p>
          <a:p>
            <a:pPr lvl="1"/>
            <a:r>
              <a:rPr sz="4000" dirty="0"/>
              <a:t>Strengthens youth and diaspora identity</a:t>
            </a:r>
          </a:p>
          <a:p>
            <a:pPr lvl="1"/>
            <a:r>
              <a:rPr sz="4000" dirty="0"/>
              <a:t>Builds cultural confidence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Gender Bias in Tradition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4400" dirty="0"/>
              <a:t>Patriarchal encoding of authority</a:t>
            </a:r>
          </a:p>
          <a:p>
            <a:pPr lvl="1"/>
            <a:r>
              <a:rPr sz="3600" dirty="0"/>
              <a:t>Restricted women’s public participation</a:t>
            </a:r>
          </a:p>
          <a:p>
            <a:pPr lvl="1"/>
            <a:r>
              <a:rPr sz="3600" dirty="0"/>
              <a:t>Uncritical repetition reinforces inequality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Hidden Female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4000" dirty="0"/>
              <a:t>Mũmbi and the nine daughters</a:t>
            </a:r>
          </a:p>
          <a:p>
            <a:pPr lvl="1"/>
            <a:r>
              <a:rPr sz="3200" dirty="0"/>
              <a:t>Maternal lineage as foundation</a:t>
            </a:r>
          </a:p>
          <a:p>
            <a:pPr lvl="1"/>
            <a:r>
              <a:rPr sz="3200" dirty="0" err="1"/>
              <a:t>Wangu</a:t>
            </a:r>
            <a:r>
              <a:rPr sz="3200" dirty="0"/>
              <a:t> </a:t>
            </a:r>
            <a:r>
              <a:rPr sz="3200" dirty="0" err="1"/>
              <a:t>wa</a:t>
            </a:r>
            <a:r>
              <a:rPr sz="3200" dirty="0"/>
              <a:t> </a:t>
            </a:r>
            <a:r>
              <a:rPr sz="3200" dirty="0" err="1"/>
              <a:t>Makeri</a:t>
            </a:r>
            <a:r>
              <a:rPr sz="3200" dirty="0"/>
              <a:t> as political authority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Reinterpretation, Not Rejection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4400" dirty="0"/>
              <a:t>Contextualize restrictive proverbs</a:t>
            </a:r>
          </a:p>
          <a:p>
            <a:pPr lvl="1"/>
            <a:r>
              <a:rPr sz="3600" dirty="0"/>
              <a:t>Promote universal virtues</a:t>
            </a:r>
          </a:p>
          <a:p>
            <a:pPr lvl="1"/>
            <a:r>
              <a:rPr sz="3600" dirty="0"/>
              <a:t>Equity strengthens tradition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Digital Riiko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4400" dirty="0"/>
              <a:t>Progressive Web App as modern hearth</a:t>
            </a:r>
          </a:p>
          <a:p>
            <a:pPr lvl="1"/>
            <a:r>
              <a:rPr sz="3600" dirty="0"/>
              <a:t>Interactive </a:t>
            </a:r>
            <a:r>
              <a:rPr sz="3600" dirty="0" err="1"/>
              <a:t>Thimo</a:t>
            </a:r>
            <a:r>
              <a:rPr sz="3600" dirty="0"/>
              <a:t> archive</a:t>
            </a:r>
          </a:p>
          <a:p>
            <a:pPr lvl="1"/>
            <a:r>
              <a:rPr sz="3600" dirty="0"/>
              <a:t>Accessible, mobile-first cultural preservation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 Message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4000" dirty="0" err="1"/>
              <a:t>Ng’ano</a:t>
            </a:r>
            <a:r>
              <a:rPr sz="4000" dirty="0"/>
              <a:t> and </a:t>
            </a:r>
            <a:r>
              <a:rPr sz="4000" dirty="0" err="1"/>
              <a:t>Thimo</a:t>
            </a:r>
            <a:r>
              <a:rPr sz="4000" dirty="0"/>
              <a:t> are the cultural backbone</a:t>
            </a:r>
          </a:p>
          <a:p>
            <a:pPr lvl="1"/>
            <a:r>
              <a:rPr sz="3200" dirty="0"/>
              <a:t>Critical courage ensures survival</a:t>
            </a:r>
          </a:p>
          <a:p>
            <a:pPr lvl="1"/>
            <a:r>
              <a:rPr sz="3200" dirty="0"/>
              <a:t>The fire evolves, it does not die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3</TotalTime>
  <Words>322</Words>
  <Application>Microsoft Office PowerPoint</Application>
  <PresentationFormat>On-screen Show (4:3)</PresentationFormat>
  <Paragraphs>71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Tw Cen MT</vt:lpstr>
      <vt:lpstr>Tw Cen MT Condensed</vt:lpstr>
      <vt:lpstr>Wingdings 3</vt:lpstr>
      <vt:lpstr>Integral</vt:lpstr>
      <vt:lpstr>TREVOR KIMATHI</vt:lpstr>
      <vt:lpstr>The Echoes of the Hearth</vt:lpstr>
      <vt:lpstr>Opening Proverb</vt:lpstr>
      <vt:lpstr>The Riiko – Sacred Hearth</vt:lpstr>
      <vt:lpstr>Thesis Statement</vt:lpstr>
      <vt:lpstr>Presentation Roadmap</vt:lpstr>
      <vt:lpstr>Ng’ano – Stories as Education</vt:lpstr>
      <vt:lpstr>Kariũki the Trickster</vt:lpstr>
      <vt:lpstr>Thimo – Proverbs as Law</vt:lpstr>
      <vt:lpstr>Collective Philosophy</vt:lpstr>
      <vt:lpstr>Language and Identity</vt:lpstr>
      <vt:lpstr>Modern Relevance</vt:lpstr>
      <vt:lpstr>Psychological Anchoring</vt:lpstr>
      <vt:lpstr>Gender Bias in Tradition</vt:lpstr>
      <vt:lpstr>Hidden Female Power</vt:lpstr>
      <vt:lpstr>Reinterpretation, Not Rejection</vt:lpstr>
      <vt:lpstr>The Digital Riiko</vt:lpstr>
      <vt:lpstr>Final Message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User</cp:lastModifiedBy>
  <cp:revision>4</cp:revision>
  <dcterms:created xsi:type="dcterms:W3CDTF">2013-01-27T09:14:16Z</dcterms:created>
  <dcterms:modified xsi:type="dcterms:W3CDTF">2025-12-18T16:03:32Z</dcterms:modified>
  <cp:category/>
</cp:coreProperties>
</file>